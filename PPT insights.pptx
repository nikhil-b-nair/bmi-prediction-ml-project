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C1C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919973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CCC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839946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15055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822068"/>
            <a:ext cx="5420360" cy="163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35259" y="3135783"/>
            <a:ext cx="50101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4408" y="3135783"/>
            <a:ext cx="47180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1031" y="3135783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7.xml"/><Relationship Id="rId18" Type="http://schemas.openxmlformats.org/officeDocument/2006/relationships/image" Target="../media/image9.png"/><Relationship Id="rId3" Type="http://schemas.openxmlformats.org/officeDocument/2006/relationships/slide" Target="slide3.xml"/><Relationship Id="rId7" Type="http://schemas.openxmlformats.org/officeDocument/2006/relationships/image" Target="../media/image5.png"/><Relationship Id="rId12" Type="http://schemas.openxmlformats.org/officeDocument/2006/relationships/slide" Target="slide6.xml"/><Relationship Id="rId17" Type="http://schemas.openxmlformats.org/officeDocument/2006/relationships/slide" Target="slide15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5.xml"/><Relationship Id="rId5" Type="http://schemas.openxmlformats.org/officeDocument/2006/relationships/image" Target="../media/image3.png"/><Relationship Id="rId15" Type="http://schemas.openxmlformats.org/officeDocument/2006/relationships/slide" Target="slide11.xml"/><Relationship Id="rId10" Type="http://schemas.openxmlformats.org/officeDocument/2006/relationships/slide" Target="slide4.xml"/><Relationship Id="rId19" Type="http://schemas.openxmlformats.org/officeDocument/2006/relationships/slide" Target="slide16.xm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slide" Target="slide17.xml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slide" Target="slide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slide" Target="slide1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slide" Target="slide17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slide" Target="slide17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slide" Target="slide17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87742"/>
            <a:ext cx="5635625" cy="529590"/>
            <a:chOff x="87743" y="787742"/>
            <a:chExt cx="5635625" cy="529590"/>
          </a:xfrm>
        </p:grpSpPr>
        <p:sp>
          <p:nvSpPr>
            <p:cNvPr id="3" name="object 3"/>
            <p:cNvSpPr/>
            <p:nvPr/>
          </p:nvSpPr>
          <p:spPr>
            <a:xfrm>
              <a:off x="87743" y="787742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0998"/>
              <a:ext cx="5584825" cy="466090"/>
            </a:xfrm>
            <a:custGeom>
              <a:avLst/>
              <a:gdLst/>
              <a:ahLst/>
              <a:cxnLst/>
              <a:rect l="l" t="t" r="r" b="b"/>
              <a:pathLst>
                <a:path w="5584825" h="466090">
                  <a:moveTo>
                    <a:pt x="5584580" y="0"/>
                  </a:moveTo>
                  <a:lnTo>
                    <a:pt x="0" y="0"/>
                  </a:lnTo>
                  <a:lnTo>
                    <a:pt x="0" y="466093"/>
                  </a:lnTo>
                  <a:lnTo>
                    <a:pt x="5584580" y="466093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2161"/>
              <a:ext cx="5584825" cy="434340"/>
            </a:xfrm>
            <a:custGeom>
              <a:avLst/>
              <a:gdLst/>
              <a:ahLst/>
              <a:cxnLst/>
              <a:rect l="l" t="t" r="r" b="b"/>
              <a:pathLst>
                <a:path w="5584825" h="434340">
                  <a:moveTo>
                    <a:pt x="5584580" y="0"/>
                  </a:moveTo>
                  <a:lnTo>
                    <a:pt x="0" y="0"/>
                  </a:lnTo>
                  <a:lnTo>
                    <a:pt x="0" y="383329"/>
                  </a:lnTo>
                  <a:lnTo>
                    <a:pt x="4008" y="403054"/>
                  </a:lnTo>
                  <a:lnTo>
                    <a:pt x="14922" y="419207"/>
                  </a:lnTo>
                  <a:lnTo>
                    <a:pt x="31075" y="430121"/>
                  </a:lnTo>
                  <a:lnTo>
                    <a:pt x="50800" y="434129"/>
                  </a:lnTo>
                  <a:lnTo>
                    <a:pt x="5533779" y="434129"/>
                  </a:lnTo>
                  <a:lnTo>
                    <a:pt x="5553504" y="430121"/>
                  </a:lnTo>
                  <a:lnTo>
                    <a:pt x="5569657" y="419207"/>
                  </a:lnTo>
                  <a:lnTo>
                    <a:pt x="5580571" y="403054"/>
                  </a:lnTo>
                  <a:lnTo>
                    <a:pt x="5584580" y="38332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0998"/>
            <a:ext cx="5584825" cy="4660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z="1400" dirty="0">
                <a:latin typeface="Tahoma"/>
                <a:cs typeface="Tahoma"/>
              </a:rPr>
              <a:t>BMI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Prediction Using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Machine</a:t>
            </a:r>
            <a:r>
              <a:rPr sz="1400" spc="-10" dirty="0">
                <a:latin typeface="Tahoma"/>
                <a:cs typeface="Tahoma"/>
              </a:rPr>
              <a:t> Learning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8973" y="1476373"/>
            <a:ext cx="842644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Nikhil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Nair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Tahoma"/>
                <a:cs typeface="Tahoma"/>
              </a:rPr>
              <a:t>June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28,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2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Agenda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554583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55393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526489"/>
            <a:ext cx="734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Introduction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821753"/>
            <a:ext cx="160096" cy="1600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088923"/>
            <a:ext cx="160096" cy="1600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356080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1623250"/>
            <a:ext cx="160096" cy="1600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890420"/>
            <a:ext cx="160096" cy="1600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157590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793659"/>
            <a:ext cx="1343025" cy="1527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Objectives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780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Data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Preprocessing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Feature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14" action="ppaction://hlinksldjump"/>
              </a:rPr>
              <a:t>Model</a:t>
            </a:r>
            <a:r>
              <a:rPr sz="1100" spc="-55" dirty="0">
                <a:solidFill>
                  <a:srgbClr val="3333B2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4" action="ppaction://hlinksldjump"/>
              </a:rPr>
              <a:t>Training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Results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9280" y="2424747"/>
            <a:ext cx="160096" cy="1600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9743" y="242408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173" y="2396653"/>
            <a:ext cx="648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17" action="ppaction://hlinksldjump"/>
              </a:rPr>
              <a:t>Conclusion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691917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6912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173" y="2663823"/>
            <a:ext cx="793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Future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 Scope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20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20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405585"/>
            <a:ext cx="5464175" cy="1132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What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is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BMI?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850"/>
              </a:spcBef>
            </a:pPr>
            <a:r>
              <a:rPr sz="1100" dirty="0">
                <a:latin typeface="Tahoma"/>
                <a:cs typeface="Tahoma"/>
              </a:rPr>
              <a:t>Body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Mass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Index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(BMI)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measure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person’s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height.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widely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assess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individual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underweight,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normal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weight,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overweight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 </a:t>
            </a:r>
            <a:r>
              <a:rPr sz="1100" spc="-10" dirty="0">
                <a:latin typeface="Tahoma"/>
                <a:cs typeface="Tahoma"/>
              </a:rPr>
              <a:t>obese.</a:t>
            </a:r>
            <a:endParaRPr sz="11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117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3791" y="1634513"/>
            <a:ext cx="707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30" dirty="0">
                <a:latin typeface="Arial"/>
                <a:cs typeface="Arial"/>
              </a:rPr>
              <a:t>Weight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kg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66491" y="1844852"/>
            <a:ext cx="682625" cy="0"/>
          </a:xfrm>
          <a:custGeom>
            <a:avLst/>
            <a:gdLst/>
            <a:ahLst/>
            <a:cxnLst/>
            <a:rect l="l" t="t" r="r" b="b"/>
            <a:pathLst>
              <a:path w="682625">
                <a:moveTo>
                  <a:pt x="0" y="0"/>
                </a:moveTo>
                <a:lnTo>
                  <a:pt x="6823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7882" y="1728240"/>
            <a:ext cx="121920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BMI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512445">
              <a:lnSpc>
                <a:spcPts val="1035"/>
              </a:lnSpc>
            </a:pPr>
            <a:r>
              <a:rPr sz="1100" i="1" spc="-10" dirty="0">
                <a:latin typeface="Arial"/>
                <a:cs typeface="Arial"/>
              </a:rPr>
              <a:t>Height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m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200" spc="-15" baseline="20833" dirty="0">
                <a:latin typeface="Arial MT"/>
                <a:cs typeface="Arial MT"/>
              </a:rPr>
              <a:t>2</a:t>
            </a:r>
            <a:endParaRPr sz="1200" baseline="20833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40729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593759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780220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966681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844" y="2109328"/>
            <a:ext cx="1758314" cy="9658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spc="-25" dirty="0">
                <a:latin typeface="Arial"/>
                <a:cs typeface="Arial"/>
              </a:rPr>
              <a:t>Importance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40" dirty="0">
                <a:latin typeface="Arial"/>
                <a:cs typeface="Arial"/>
              </a:rPr>
              <a:t>BMI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11200"/>
              </a:lnSpc>
              <a:spcBef>
                <a:spcPts val="30"/>
              </a:spcBef>
            </a:pPr>
            <a:r>
              <a:rPr sz="1100" spc="-10" dirty="0">
                <a:latin typeface="Tahoma"/>
                <a:cs typeface="Tahoma"/>
              </a:rPr>
              <a:t>Health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Risk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Assessment </a:t>
            </a:r>
            <a:r>
              <a:rPr sz="1100" spc="-20" dirty="0">
                <a:latin typeface="Tahoma"/>
                <a:cs typeface="Tahoma"/>
              </a:rPr>
              <a:t>Fitness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Monitoring </a:t>
            </a:r>
            <a:r>
              <a:rPr sz="1100" spc="-25" dirty="0">
                <a:latin typeface="Tahoma"/>
                <a:cs typeface="Tahoma"/>
              </a:rPr>
              <a:t>Obesity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Detection </a:t>
            </a:r>
            <a:r>
              <a:rPr sz="1100" dirty="0">
                <a:latin typeface="Tahoma"/>
                <a:cs typeface="Tahoma"/>
              </a:rPr>
              <a:t>Clinical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Decision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Support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6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727454"/>
            <a:ext cx="1931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objectives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project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are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991612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917" y="97867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932" y="893709"/>
            <a:ext cx="2686685" cy="170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Study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Machine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Learning </a:t>
            </a:r>
            <a:r>
              <a:rPr sz="1100" spc="-30" dirty="0">
                <a:latin typeface="Tahoma"/>
                <a:cs typeface="Tahoma"/>
              </a:rPr>
              <a:t>Explore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12700" marR="1042669">
              <a:lnSpc>
                <a:spcPct val="125299"/>
              </a:lnSpc>
            </a:pPr>
            <a:r>
              <a:rPr sz="1100" spc="-30" dirty="0">
                <a:latin typeface="Tahoma"/>
                <a:cs typeface="Tahoma"/>
              </a:rPr>
              <a:t>Perform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preprocessing </a:t>
            </a:r>
            <a:r>
              <a:rPr sz="1100" spc="-25" dirty="0">
                <a:latin typeface="Tahoma"/>
                <a:cs typeface="Tahoma"/>
              </a:rPr>
              <a:t>Encode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categorical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variables </a:t>
            </a:r>
            <a:r>
              <a:rPr sz="1100" spc="-20" dirty="0">
                <a:latin typeface="Tahoma"/>
                <a:cs typeface="Tahoma"/>
              </a:rPr>
              <a:t>Calculate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</a:t>
            </a:r>
            <a:endParaRPr sz="1100">
              <a:latin typeface="Tahoma"/>
              <a:cs typeface="Tahoma"/>
            </a:endParaRPr>
          </a:p>
          <a:p>
            <a:pPr marL="12700" marR="802640">
              <a:lnSpc>
                <a:spcPct val="125299"/>
              </a:lnSpc>
            </a:pPr>
            <a:r>
              <a:rPr sz="1100" spc="-10" dirty="0">
                <a:latin typeface="Tahoma"/>
                <a:cs typeface="Tahoma"/>
              </a:rPr>
              <a:t>Train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model </a:t>
            </a:r>
            <a:r>
              <a:rPr sz="1100" spc="-25" dirty="0">
                <a:latin typeface="Tahoma"/>
                <a:cs typeface="Tahoma"/>
              </a:rPr>
              <a:t>Evaluate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prediction</a:t>
            </a:r>
            <a:r>
              <a:rPr sz="1100" spc="-10" dirty="0">
                <a:latin typeface="Tahoma"/>
                <a:cs typeface="Tahoma"/>
              </a:rPr>
              <a:t> accuracy </a:t>
            </a:r>
            <a:r>
              <a:rPr sz="1100" dirty="0">
                <a:latin typeface="Tahoma"/>
                <a:cs typeface="Tahoma"/>
              </a:rPr>
              <a:t>Predict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unseen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201645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18871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411677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139874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621710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160877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1831743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1917" y="181881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7672" y="2041775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1917" y="202884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7672" y="2251808"/>
            <a:ext cx="114214" cy="11421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51917" y="223887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7672" y="2461841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51917" y="244890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10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10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Dataset</a:t>
            </a:r>
            <a:r>
              <a:rPr spc="-90" dirty="0"/>
              <a:t> </a:t>
            </a:r>
            <a:r>
              <a:rPr spc="-50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408341"/>
            <a:ext cx="33610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consists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500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observations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166" y="826592"/>
            <a:ext cx="1979930" cy="0"/>
          </a:xfrm>
          <a:custGeom>
            <a:avLst/>
            <a:gdLst/>
            <a:ahLst/>
            <a:cxnLst/>
            <a:rect l="l" t="t" r="r" b="b"/>
            <a:pathLst>
              <a:path w="1979929">
                <a:moveTo>
                  <a:pt x="0" y="0"/>
                </a:moveTo>
                <a:lnTo>
                  <a:pt x="197967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53374" y="841373"/>
            <a:ext cx="459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Feature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840" y="841373"/>
            <a:ext cx="678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Description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90166" y="1072324"/>
            <a:ext cx="1979930" cy="0"/>
          </a:xfrm>
          <a:custGeom>
            <a:avLst/>
            <a:gdLst/>
            <a:ahLst/>
            <a:cxnLst/>
            <a:rect l="l" t="t" r="r" b="b"/>
            <a:pathLst>
              <a:path w="1979929">
                <a:moveTo>
                  <a:pt x="0" y="0"/>
                </a:moveTo>
                <a:lnTo>
                  <a:pt x="197967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53374" y="1085023"/>
            <a:ext cx="43815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spc="-60" dirty="0">
                <a:latin typeface="Tahoma"/>
                <a:cs typeface="Tahoma"/>
              </a:rPr>
              <a:t>Gender </a:t>
            </a:r>
            <a:r>
              <a:rPr sz="1100" spc="-10" dirty="0">
                <a:latin typeface="Tahoma"/>
                <a:cs typeface="Tahoma"/>
              </a:rPr>
              <a:t>Height </a:t>
            </a:r>
            <a:r>
              <a:rPr sz="1100" spc="-40" dirty="0">
                <a:latin typeface="Tahoma"/>
                <a:cs typeface="Tahoma"/>
              </a:rPr>
              <a:t>Weight </a:t>
            </a:r>
            <a:r>
              <a:rPr sz="1100" spc="-10" dirty="0">
                <a:latin typeface="Tahoma"/>
                <a:cs typeface="Tahoma"/>
              </a:rPr>
              <a:t>Index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8660" y="1085023"/>
            <a:ext cx="126746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Male/Female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</a:rPr>
              <a:t>Height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centimeters </a:t>
            </a:r>
            <a:r>
              <a:rPr sz="1100" spc="-20" dirty="0">
                <a:latin typeface="Tahoma"/>
                <a:cs typeface="Tahoma"/>
              </a:rPr>
              <a:t>Weight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kilograms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Category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90166" y="1834286"/>
            <a:ext cx="1979930" cy="0"/>
          </a:xfrm>
          <a:custGeom>
            <a:avLst/>
            <a:gdLst/>
            <a:ahLst/>
            <a:cxnLst/>
            <a:rect l="l" t="t" r="r" b="b"/>
            <a:pathLst>
              <a:path w="1979929">
                <a:moveTo>
                  <a:pt x="0" y="0"/>
                </a:moveTo>
                <a:lnTo>
                  <a:pt x="197967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312809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522842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732874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942907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5844" y="1975546"/>
            <a:ext cx="341122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Observation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Dataset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missing </a:t>
            </a:r>
            <a:r>
              <a:rPr sz="1100" spc="-10" dirty="0">
                <a:latin typeface="Tahoma"/>
                <a:cs typeface="Tahoma"/>
              </a:rPr>
              <a:t>values.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Height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ranges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140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199</a:t>
            </a:r>
            <a:r>
              <a:rPr sz="1100" spc="-25" dirty="0">
                <a:latin typeface="Tahoma"/>
                <a:cs typeface="Tahoma"/>
              </a:rPr>
              <a:t> cm. </a:t>
            </a:r>
            <a:r>
              <a:rPr sz="1100" spc="-20" dirty="0">
                <a:latin typeface="Tahoma"/>
                <a:cs typeface="Tahoma"/>
              </a:rPr>
              <a:t>Weight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ranges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50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160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kg.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calculated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during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preprocessing.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6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 </a:t>
            </a:r>
            <a:r>
              <a:rPr spc="-50" dirty="0"/>
              <a:t>Preprocessing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478229"/>
            <a:ext cx="4922520" cy="6438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Before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Machine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preprocessed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ensure </a:t>
            </a:r>
            <a:r>
              <a:rPr sz="1100" spc="-45" dirty="0">
                <a:latin typeface="Tahoma"/>
                <a:cs typeface="Tahoma"/>
              </a:rPr>
              <a:t>consistency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improve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00" b="1" spc="-35" dirty="0">
                <a:latin typeface="Arial"/>
                <a:cs typeface="Arial"/>
              </a:rPr>
              <a:t>Steps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Performed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194520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917" y="118160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932" y="1096630"/>
            <a:ext cx="298323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latin typeface="Tahoma"/>
                <a:cs typeface="Tahoma"/>
              </a:rPr>
              <a:t>Checked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missing</a:t>
            </a:r>
            <a:r>
              <a:rPr sz="1100" spc="-45" dirty="0">
                <a:latin typeface="Tahoma"/>
                <a:cs typeface="Tahoma"/>
              </a:rPr>
              <a:t> values </a:t>
            </a:r>
            <a:r>
              <a:rPr sz="1100" spc="-30" dirty="0">
                <a:latin typeface="Tahoma"/>
                <a:cs typeface="Tahoma"/>
              </a:rPr>
              <a:t>using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40" dirty="0">
                <a:latin typeface="Calibri"/>
                <a:cs typeface="Calibri"/>
              </a:rPr>
              <a:t>isnull().sum() </a:t>
            </a:r>
            <a:r>
              <a:rPr sz="1100" spc="-25" dirty="0">
                <a:latin typeface="Tahoma"/>
                <a:cs typeface="Tahoma"/>
              </a:rPr>
              <a:t>Verified</a:t>
            </a:r>
            <a:r>
              <a:rPr sz="1100" spc="-30" dirty="0">
                <a:latin typeface="Tahoma"/>
                <a:cs typeface="Tahoma"/>
              </a:rPr>
              <a:t> dataset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using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160" dirty="0">
                <a:latin typeface="Calibri"/>
                <a:cs typeface="Calibri"/>
              </a:rPr>
              <a:t>df.info() </a:t>
            </a:r>
            <a:r>
              <a:rPr sz="1100" spc="-30" dirty="0">
                <a:latin typeface="Tahoma"/>
                <a:cs typeface="Tahoma"/>
              </a:rPr>
              <a:t>Encoded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Gender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column</a:t>
            </a:r>
            <a:endParaRPr sz="1100">
              <a:latin typeface="Tahoma"/>
              <a:cs typeface="Tahoma"/>
            </a:endParaRPr>
          </a:p>
          <a:p>
            <a:pPr marL="12700" marR="163830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Calculated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 </a:t>
            </a:r>
            <a:r>
              <a:rPr sz="1100" spc="-40" dirty="0">
                <a:latin typeface="Tahoma"/>
                <a:cs typeface="Tahoma"/>
              </a:rPr>
              <a:t>formula </a:t>
            </a:r>
            <a:r>
              <a:rPr sz="1100" spc="-35" dirty="0">
                <a:latin typeface="Tahoma"/>
                <a:cs typeface="Tahoma"/>
              </a:rPr>
              <a:t>Selected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04553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39163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14585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160166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24618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181169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34651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1917" y="202173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28049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838081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5844" y="2290785"/>
            <a:ext cx="248856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Result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No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found. </a:t>
            </a:r>
            <a:r>
              <a:rPr sz="1100" spc="-20" dirty="0">
                <a:latin typeface="Tahoma"/>
                <a:cs typeface="Tahoma"/>
              </a:rPr>
              <a:t>Dataset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ready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30" dirty="0">
                <a:latin typeface="Tahoma"/>
                <a:cs typeface="Tahoma"/>
              </a:rPr>
              <a:t> training.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9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9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Feature</a:t>
            </a:r>
            <a:r>
              <a:rPr spc="-50" dirty="0"/>
              <a:t> </a:t>
            </a:r>
            <a:r>
              <a:rPr spc="-45" dirty="0"/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826" y="623881"/>
            <a:ext cx="5420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Since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contained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Categories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(Index),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calculated.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3984" y="1012825"/>
            <a:ext cx="5292090" cy="1709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9560" marR="4345940" indent="-277495">
              <a:lnSpc>
                <a:spcPct val="109300"/>
              </a:lnSpc>
              <a:spcBef>
                <a:spcPts val="125"/>
              </a:spcBef>
            </a:pPr>
            <a:r>
              <a:rPr sz="1100" b="1" dirty="0">
                <a:latin typeface="Arial"/>
                <a:cs typeface="Arial"/>
              </a:rPr>
              <a:t>Input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Features </a:t>
            </a:r>
            <a:r>
              <a:rPr sz="1100" spc="-10" dirty="0">
                <a:latin typeface="Tahoma"/>
                <a:cs typeface="Tahoma"/>
              </a:rPr>
              <a:t>Gender Height Weight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100" b="1" spc="-10" dirty="0">
                <a:latin typeface="Arial"/>
                <a:cs typeface="Arial"/>
              </a:rPr>
              <a:t>Target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Variable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100" spc="-25" dirty="0">
                <a:latin typeface="Tahoma"/>
                <a:cs typeface="Tahoma"/>
              </a:rPr>
              <a:t>BMI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96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engineering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enabled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Linear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relationship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physical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characteristics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BMI.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2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9386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ahoma"/>
                <a:cs typeface="Tahoma"/>
              </a:rPr>
              <a:t>BMI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Distribution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Analysis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057" y="551389"/>
            <a:ext cx="2648466" cy="23128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3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32730"/>
            <a:ext cx="5760085" cy="207645"/>
            <a:chOff x="0" y="3032730"/>
            <a:chExt cx="5760085" cy="207645"/>
          </a:xfrm>
        </p:grpSpPr>
        <p:sp>
          <p:nvSpPr>
            <p:cNvPr id="3" name="object 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2932" y="336116"/>
            <a:ext cx="840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55" dirty="0">
                <a:latin typeface="Arial"/>
                <a:cs typeface="Arial"/>
              </a:rPr>
              <a:t>Observations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0167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1170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93812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03844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13877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844" y="674443"/>
            <a:ext cx="5471795" cy="1946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illustrates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dataset.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Most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25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and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45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indicating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proportion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individuals </a:t>
            </a:r>
            <a:r>
              <a:rPr sz="1100" spc="-40" dirty="0">
                <a:latin typeface="Tahoma"/>
                <a:cs typeface="Tahoma"/>
              </a:rPr>
              <a:t>belong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overweight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categories.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Tahoma"/>
                <a:cs typeface="Tahoma"/>
              </a:rPr>
              <a:t>Very </a:t>
            </a:r>
            <a:r>
              <a:rPr sz="1100" spc="-45" dirty="0">
                <a:latin typeface="Tahoma"/>
                <a:cs typeface="Tahoma"/>
              </a:rPr>
              <a:t>few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below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 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70.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distribution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skewed,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longer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tail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towards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values.</a:t>
            </a:r>
            <a:endParaRPr sz="1100">
              <a:latin typeface="Tahoma"/>
              <a:cs typeface="Tahoma"/>
            </a:endParaRPr>
          </a:p>
          <a:p>
            <a:pPr marL="289560" marR="35496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wide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sufficient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variability </a:t>
            </a:r>
            <a:r>
              <a:rPr sz="1100" spc="-20" dirty="0">
                <a:latin typeface="Tahoma"/>
                <a:cs typeface="Tahoma"/>
              </a:rPr>
              <a:t>for training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effective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Tahoma"/>
              <a:cs typeface="Tahoma"/>
            </a:endParaRPr>
          </a:p>
          <a:p>
            <a:pPr marL="12700" marR="92075">
              <a:lnSpc>
                <a:spcPct val="102600"/>
              </a:lnSpc>
            </a:pPr>
            <a:r>
              <a:rPr sz="1100" b="1" spc="-20" dirty="0">
                <a:latin typeface="Arial"/>
                <a:cs typeface="Arial"/>
              </a:rPr>
              <a:t>Insight: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dataset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diverse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enabling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Regression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meaningful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Height,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Weight,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BMI.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7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7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56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Model</a:t>
            </a:r>
            <a:r>
              <a:rPr spc="-30" dirty="0"/>
              <a:t> </a:t>
            </a:r>
            <a:r>
              <a:rPr spc="-25" dirty="0"/>
              <a:t>Training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9675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0679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659281"/>
            <a:ext cx="5091430" cy="20535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divided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testing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datasets.</a:t>
            </a:r>
            <a:endParaRPr sz="1100">
              <a:latin typeface="Tahoma"/>
              <a:cs typeface="Tahoma"/>
            </a:endParaRPr>
          </a:p>
          <a:p>
            <a:pPr marL="289560" marR="3588385">
              <a:lnSpc>
                <a:spcPct val="125299"/>
              </a:lnSpc>
              <a:spcBef>
                <a:spcPts val="1135"/>
              </a:spcBef>
            </a:pP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80% </a:t>
            </a:r>
            <a:r>
              <a:rPr sz="1100" spc="-30" dirty="0">
                <a:latin typeface="Tahoma"/>
                <a:cs typeface="Tahoma"/>
              </a:rPr>
              <a:t>Testing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20%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Used</a:t>
            </a:r>
            <a:endParaRPr sz="1100">
              <a:latin typeface="Arial"/>
              <a:cs typeface="Arial"/>
            </a:endParaRPr>
          </a:p>
          <a:p>
            <a:pPr marL="2107565">
              <a:lnSpc>
                <a:spcPct val="100000"/>
              </a:lnSpc>
              <a:spcBef>
                <a:spcPts val="1070"/>
              </a:spcBef>
            </a:pPr>
            <a:r>
              <a:rPr sz="1400" spc="-30" dirty="0">
                <a:latin typeface="Tahoma"/>
                <a:cs typeface="Tahoma"/>
              </a:rPr>
              <a:t>Linear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Regression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Linear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continuous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making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suitable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Machine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approach.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4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4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Model</a:t>
            </a:r>
            <a:r>
              <a:rPr spc="-30" dirty="0"/>
              <a:t> </a:t>
            </a:r>
            <a:r>
              <a:rPr spc="-25" dirty="0"/>
              <a:t>Evaluation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547571"/>
            <a:ext cx="4224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trained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evaluated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20" dirty="0">
                <a:latin typeface="Tahoma"/>
                <a:cs typeface="Tahoma"/>
              </a:rPr>
              <a:t>four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regression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metrics.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57845" y="1001826"/>
          <a:ext cx="2644140" cy="1005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Metric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Value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Mean</a:t>
                      </a:r>
                      <a:r>
                        <a:rPr sz="1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Absolute</a:t>
                      </a:r>
                      <a:r>
                        <a:rPr sz="1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Error</a:t>
                      </a:r>
                      <a:r>
                        <a:rPr sz="11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(MAE)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1.887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Mean</a:t>
                      </a:r>
                      <a:r>
                        <a:rPr sz="11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Squared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Error</a:t>
                      </a:r>
                      <a:r>
                        <a:rPr sz="11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(MSE)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6.587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marL="75565">
                        <a:lnSpc>
                          <a:spcPts val="117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Root</a:t>
                      </a:r>
                      <a:r>
                        <a:rPr sz="11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Mean</a:t>
                      </a:r>
                      <a:r>
                        <a:rPr sz="11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Squared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Error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(RMSE)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2.567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26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200" baseline="27777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200" spc="262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Score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0.971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52402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734055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2186772"/>
            <a:ext cx="446659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35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error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1.9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units.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explains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97.1%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values.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4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4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Results</a:t>
            </a:r>
            <a:r>
              <a:rPr spc="-60" dirty="0"/>
              <a:t> </a:t>
            </a:r>
            <a:r>
              <a:rPr spc="-35" dirty="0"/>
              <a:t>and</a:t>
            </a:r>
            <a:r>
              <a:rPr spc="-60" dirty="0"/>
              <a:t> </a:t>
            </a:r>
            <a:r>
              <a:rPr spc="-55" dirty="0"/>
              <a:t>Insights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220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7223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8226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9230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02332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0444" y="924938"/>
            <a:ext cx="4157345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Observations</a:t>
            </a:r>
            <a:endParaRPr sz="1100">
              <a:latin typeface="Arial"/>
              <a:cs typeface="Arial"/>
            </a:endParaRPr>
          </a:p>
          <a:p>
            <a:pPr marL="314960" marR="915669" algn="just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Actual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Predicted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matched. </a:t>
            </a:r>
            <a:r>
              <a:rPr sz="1100" spc="-20" dirty="0">
                <a:latin typeface="Tahoma"/>
                <a:cs typeface="Tahoma"/>
              </a:rPr>
              <a:t>Low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RMSE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indicates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predictions.</a:t>
            </a:r>
            <a:endParaRPr sz="1100">
              <a:latin typeface="Tahoma"/>
              <a:cs typeface="Tahoma"/>
            </a:endParaRPr>
          </a:p>
          <a:p>
            <a:pPr marL="314960" marR="30480" algn="just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Weight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contributed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strongly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 </a:t>
            </a:r>
            <a:r>
              <a:rPr sz="1100" spc="-25" dirty="0">
                <a:latin typeface="Tahoma"/>
                <a:cs typeface="Tahoma"/>
              </a:rPr>
              <a:t>Height. </a:t>
            </a:r>
            <a:r>
              <a:rPr sz="1100" spc="-50" dirty="0">
                <a:latin typeface="Tahoma"/>
                <a:cs typeface="Tahoma"/>
              </a:rPr>
              <a:t>Gender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comparatively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lower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influence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20" dirty="0">
                <a:latin typeface="Tahoma"/>
                <a:cs typeface="Tahoma"/>
              </a:rPr>
              <a:t> accuracy.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 </a:t>
            </a:r>
            <a:r>
              <a:rPr sz="1100" dirty="0">
                <a:latin typeface="Tahoma"/>
                <a:cs typeface="Tahoma"/>
              </a:rPr>
              <a:t>R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09" baseline="27777" dirty="0">
                <a:latin typeface="Arial MT"/>
                <a:cs typeface="Arial MT"/>
              </a:rPr>
              <a:t> </a:t>
            </a:r>
            <a:r>
              <a:rPr sz="1100" spc="-60" dirty="0">
                <a:latin typeface="Tahoma"/>
                <a:cs typeface="Tahoma"/>
              </a:rPr>
              <a:t>score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confirms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excellent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7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7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18573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ahoma"/>
                <a:cs typeface="Tahoma"/>
              </a:rPr>
              <a:t>Actual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vs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Predicted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BMI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759" y="575255"/>
            <a:ext cx="2945243" cy="230784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3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32730"/>
            <a:ext cx="5760085" cy="207645"/>
            <a:chOff x="0" y="3032730"/>
            <a:chExt cx="5760085" cy="207645"/>
          </a:xfrm>
        </p:grpSpPr>
        <p:sp>
          <p:nvSpPr>
            <p:cNvPr id="3" name="object 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082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0294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8504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5081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77186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0444" y="483575"/>
            <a:ext cx="5560695" cy="197421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Observation</a:t>
            </a:r>
            <a:endParaRPr sz="1100">
              <a:latin typeface="Arial"/>
              <a:cs typeface="Arial"/>
            </a:endParaRPr>
          </a:p>
          <a:p>
            <a:pPr marL="31496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scatter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compares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actual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BMI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generated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Regression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  <a:p>
            <a:pPr marL="31496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red</a:t>
            </a:r>
            <a:r>
              <a:rPr sz="1100" spc="-35" dirty="0">
                <a:latin typeface="Tahoma"/>
                <a:cs typeface="Tahoma"/>
              </a:rPr>
              <a:t> diagonal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ideal</a:t>
            </a:r>
            <a:r>
              <a:rPr sz="1100" spc="-30" dirty="0">
                <a:latin typeface="Tahoma"/>
                <a:cs typeface="Tahoma"/>
              </a:rPr>
              <a:t> prediction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actual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are </a:t>
            </a:r>
            <a:r>
              <a:rPr sz="1100" spc="-10" dirty="0">
                <a:latin typeface="Tahoma"/>
                <a:cs typeface="Tahoma"/>
              </a:rPr>
              <a:t>identical.</a:t>
            </a:r>
            <a:endParaRPr sz="1100">
              <a:latin typeface="Tahoma"/>
              <a:cs typeface="Tahoma"/>
            </a:endParaRPr>
          </a:p>
          <a:p>
            <a:pPr marL="314960" marR="41402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Most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reference</a:t>
            </a:r>
            <a:r>
              <a:rPr sz="1100" spc="-20" dirty="0">
                <a:latin typeface="Tahoma"/>
                <a:cs typeface="Tahoma"/>
              </a:rPr>
              <a:t> line,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indicating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30" dirty="0">
                <a:latin typeface="Tahoma"/>
                <a:cs typeface="Tahoma"/>
              </a:rPr>
              <a:t> prediction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accuracy.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model </a:t>
            </a:r>
            <a:r>
              <a:rPr sz="1100" spc="-45" dirty="0">
                <a:latin typeface="Tahoma"/>
                <a:cs typeface="Tahoma"/>
              </a:rPr>
              <a:t>achieved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200" b="1" baseline="27777" dirty="0">
                <a:latin typeface="Arial"/>
                <a:cs typeface="Arial"/>
              </a:rPr>
              <a:t>2</a:t>
            </a:r>
            <a:r>
              <a:rPr sz="1200" b="1" spc="247" baseline="27777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Score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0.971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showing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explains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approximately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latin typeface="Arial"/>
                <a:cs typeface="Arial"/>
              </a:rPr>
              <a:t>97.1%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BMI.</a:t>
            </a:r>
            <a:endParaRPr sz="1100">
              <a:latin typeface="Tahoma"/>
              <a:cs typeface="Tahoma"/>
            </a:endParaRPr>
          </a:p>
          <a:p>
            <a:pPr marL="314960" marR="51435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low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MAE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(1.887)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RMSE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(2.567)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further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confirm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model’s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strong </a:t>
            </a:r>
            <a:r>
              <a:rPr sz="1100" spc="-35" dirty="0">
                <a:latin typeface="Tahoma"/>
                <a:cs typeface="Tahoma"/>
              </a:rPr>
              <a:t>predictive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7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7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4929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933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6936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7939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78942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382395">
              <a:lnSpc>
                <a:spcPct val="125299"/>
              </a:lnSpc>
              <a:spcBef>
                <a:spcPts val="100"/>
              </a:spcBef>
            </a:pPr>
            <a:r>
              <a:rPr spc="-40" dirty="0"/>
              <a:t>Successfully</a:t>
            </a:r>
            <a:r>
              <a:rPr spc="-30" dirty="0"/>
              <a:t> </a:t>
            </a:r>
            <a:r>
              <a:rPr spc="-45" dirty="0"/>
              <a:t>implemented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40" dirty="0"/>
              <a:t>complete</a:t>
            </a:r>
            <a:r>
              <a:rPr spc="-25" dirty="0"/>
              <a:t> </a:t>
            </a:r>
            <a:r>
              <a:rPr spc="-10" dirty="0"/>
              <a:t>Machine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spc="-30" dirty="0"/>
              <a:t>pipeline. </a:t>
            </a:r>
            <a:r>
              <a:rPr spc="-45" dirty="0"/>
              <a:t>Performed</a:t>
            </a:r>
            <a:r>
              <a:rPr spc="-35" dirty="0"/>
              <a:t> </a:t>
            </a:r>
            <a:r>
              <a:rPr spc="-10" dirty="0"/>
              <a:t>data</a:t>
            </a:r>
            <a:r>
              <a:rPr spc="-30" dirty="0"/>
              <a:t> </a:t>
            </a:r>
            <a:r>
              <a:rPr spc="-55" dirty="0"/>
              <a:t>preprocessing</a:t>
            </a:r>
            <a:r>
              <a:rPr spc="-30" dirty="0"/>
              <a:t> </a:t>
            </a:r>
            <a:r>
              <a:rPr spc="-35" dirty="0"/>
              <a:t>and feature</a:t>
            </a:r>
            <a:r>
              <a:rPr spc="-30" dirty="0"/>
              <a:t> </a:t>
            </a:r>
            <a:r>
              <a:rPr spc="-10" dirty="0"/>
              <a:t>engineering.</a:t>
            </a:r>
          </a:p>
          <a:p>
            <a:pPr marL="289560" marR="2285365">
              <a:lnSpc>
                <a:spcPct val="125299"/>
              </a:lnSpc>
            </a:pPr>
            <a:r>
              <a:rPr spc="-20" dirty="0"/>
              <a:t>Calculated</a:t>
            </a:r>
            <a:r>
              <a:rPr spc="-5" dirty="0"/>
              <a:t> </a:t>
            </a:r>
            <a:r>
              <a:rPr dirty="0"/>
              <a:t>BMI </a:t>
            </a:r>
            <a:r>
              <a:rPr spc="-35" dirty="0"/>
              <a:t>using</a:t>
            </a:r>
            <a:r>
              <a:rPr spc="-10" dirty="0"/>
              <a:t> the</a:t>
            </a:r>
            <a:r>
              <a:rPr dirty="0"/>
              <a:t> </a:t>
            </a:r>
            <a:r>
              <a:rPr spc="-40" dirty="0"/>
              <a:t>standard</a:t>
            </a:r>
            <a:r>
              <a:rPr spc="-5" dirty="0"/>
              <a:t> </a:t>
            </a:r>
            <a:r>
              <a:rPr dirty="0"/>
              <a:t>BMI </a:t>
            </a:r>
            <a:r>
              <a:rPr spc="-40" dirty="0"/>
              <a:t>formula. </a:t>
            </a:r>
            <a:r>
              <a:rPr spc="-30" dirty="0"/>
              <a:t>Trained </a:t>
            </a:r>
            <a:r>
              <a:rPr dirty="0"/>
              <a:t>a</a:t>
            </a:r>
            <a:r>
              <a:rPr spc="-30" dirty="0"/>
              <a:t> </a:t>
            </a:r>
            <a:r>
              <a:rPr spc="-25" dirty="0"/>
              <a:t>Linear </a:t>
            </a:r>
            <a:r>
              <a:rPr spc="-50" dirty="0"/>
              <a:t>Regression</a:t>
            </a:r>
            <a:r>
              <a:rPr spc="-30" dirty="0"/>
              <a:t> </a:t>
            </a:r>
            <a:r>
              <a:rPr spc="-10" dirty="0"/>
              <a:t>model.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pc="-30" dirty="0"/>
              <a:t>Achieved </a:t>
            </a:r>
            <a:r>
              <a:rPr spc="-35" dirty="0"/>
              <a:t>excellent </a:t>
            </a:r>
            <a:r>
              <a:rPr spc="-30" dirty="0"/>
              <a:t>prediction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pc="-10" dirty="0"/>
          </a:p>
          <a:p>
            <a:pPr marL="12700" marR="5080">
              <a:lnSpc>
                <a:spcPct val="102699"/>
              </a:lnSpc>
            </a:pPr>
            <a:r>
              <a:rPr dirty="0"/>
              <a:t>The</a:t>
            </a:r>
            <a:r>
              <a:rPr spc="-25" dirty="0"/>
              <a:t> </a:t>
            </a:r>
            <a:r>
              <a:rPr spc="-35" dirty="0"/>
              <a:t>project</a:t>
            </a:r>
            <a:r>
              <a:rPr spc="-30" dirty="0"/>
              <a:t> </a:t>
            </a:r>
            <a:r>
              <a:rPr spc="-50" dirty="0"/>
              <a:t>demonstrates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Machine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spc="-35" dirty="0"/>
              <a:t>model</a:t>
            </a:r>
            <a:r>
              <a:rPr spc="-20" dirty="0"/>
              <a:t> can</a:t>
            </a:r>
            <a:r>
              <a:rPr spc="-25" dirty="0"/>
              <a:t> </a:t>
            </a:r>
            <a:r>
              <a:rPr spc="-30" dirty="0"/>
              <a:t>accurately</a:t>
            </a:r>
            <a:r>
              <a:rPr spc="-25" dirty="0"/>
              <a:t> </a:t>
            </a:r>
            <a:r>
              <a:rPr spc="-30" dirty="0"/>
              <a:t>estimate</a:t>
            </a:r>
            <a:r>
              <a:rPr spc="-25" dirty="0"/>
              <a:t> </a:t>
            </a:r>
            <a:r>
              <a:rPr dirty="0"/>
              <a:t>BMI</a:t>
            </a:r>
            <a:r>
              <a:rPr spc="-25" dirty="0"/>
              <a:t> </a:t>
            </a:r>
            <a:r>
              <a:rPr spc="-30" dirty="0"/>
              <a:t>using </a:t>
            </a:r>
            <a:r>
              <a:rPr spc="-55" dirty="0"/>
              <a:t>Gender,</a:t>
            </a:r>
            <a:r>
              <a:rPr spc="-35" dirty="0"/>
              <a:t> </a:t>
            </a:r>
            <a:r>
              <a:rPr spc="-10" dirty="0"/>
              <a:t>Height</a:t>
            </a:r>
            <a:r>
              <a:rPr spc="-30" dirty="0"/>
              <a:t>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spc="-10" dirty="0"/>
              <a:t>Weight.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7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7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011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Future</a:t>
            </a:r>
            <a:r>
              <a:rPr spc="-45" dirty="0"/>
              <a:t> </a:t>
            </a:r>
            <a:r>
              <a:rPr spc="-35" dirty="0"/>
              <a:t>Scope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621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624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627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76310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21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25" dirty="0"/>
              <a:t>Future</a:t>
            </a:r>
            <a:r>
              <a:rPr spc="-5" dirty="0"/>
              <a:t> </a:t>
            </a:r>
            <a:r>
              <a:rPr spc="-50" dirty="0"/>
              <a:t>improvements</a:t>
            </a:r>
            <a:r>
              <a:rPr spc="-5" dirty="0"/>
              <a:t> </a:t>
            </a:r>
            <a:r>
              <a:rPr spc="-10" dirty="0"/>
              <a:t>include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pc="-45" dirty="0"/>
              <a:t>Incorporating </a:t>
            </a:r>
            <a:r>
              <a:rPr spc="-10" dirty="0"/>
              <a:t>Age</a:t>
            </a:r>
            <a:r>
              <a:rPr spc="-45" dirty="0"/>
              <a:t> </a:t>
            </a:r>
            <a:r>
              <a:rPr spc="-30" dirty="0"/>
              <a:t>as</a:t>
            </a:r>
            <a:r>
              <a:rPr spc="-4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25" dirty="0"/>
              <a:t>additional</a:t>
            </a:r>
            <a:r>
              <a:rPr spc="-40" dirty="0"/>
              <a:t> </a:t>
            </a:r>
            <a:r>
              <a:rPr spc="-10" dirty="0"/>
              <a:t>feature.</a:t>
            </a: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pc="-40" dirty="0"/>
              <a:t>Including</a:t>
            </a:r>
            <a:r>
              <a:rPr spc="-35" dirty="0"/>
              <a:t> </a:t>
            </a:r>
            <a:r>
              <a:rPr spc="-30" dirty="0"/>
              <a:t>lifestyle factors</a:t>
            </a:r>
            <a:r>
              <a:rPr spc="-35" dirty="0"/>
              <a:t> </a:t>
            </a:r>
            <a:r>
              <a:rPr spc="-40" dirty="0"/>
              <a:t>such</a:t>
            </a:r>
            <a:r>
              <a:rPr spc="-30" dirty="0"/>
              <a:t> as</a:t>
            </a:r>
            <a:r>
              <a:rPr spc="-35" dirty="0"/>
              <a:t> </a:t>
            </a:r>
            <a:r>
              <a:rPr spc="-10" dirty="0"/>
              <a:t>diet</a:t>
            </a:r>
            <a:r>
              <a:rPr spc="-35" dirty="0"/>
              <a:t> and</a:t>
            </a:r>
            <a:r>
              <a:rPr spc="-30" dirty="0"/>
              <a:t> </a:t>
            </a:r>
            <a:r>
              <a:rPr spc="-35" dirty="0"/>
              <a:t>physical</a:t>
            </a:r>
            <a:r>
              <a:rPr spc="-30" dirty="0"/>
              <a:t> </a:t>
            </a:r>
            <a:r>
              <a:rPr spc="-10" dirty="0"/>
              <a:t>activity.</a:t>
            </a:r>
          </a:p>
          <a:p>
            <a:pPr marL="289560" marR="5080">
              <a:lnSpc>
                <a:spcPct val="125299"/>
              </a:lnSpc>
            </a:pPr>
            <a:r>
              <a:rPr spc="-40" dirty="0"/>
              <a:t>Comparing </a:t>
            </a:r>
            <a:r>
              <a:rPr spc="-25" dirty="0"/>
              <a:t>Linear</a:t>
            </a:r>
            <a:r>
              <a:rPr spc="-35" dirty="0"/>
              <a:t> </a:t>
            </a:r>
            <a:r>
              <a:rPr spc="-50" dirty="0"/>
              <a:t>Regression</a:t>
            </a:r>
            <a:r>
              <a:rPr spc="-3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25" dirty="0"/>
              <a:t>Decision</a:t>
            </a:r>
            <a:r>
              <a:rPr spc="-35" dirty="0"/>
              <a:t> </a:t>
            </a:r>
            <a:r>
              <a:rPr spc="-40" dirty="0"/>
              <a:t>Tree</a:t>
            </a:r>
            <a:r>
              <a:rPr spc="-35" dirty="0"/>
              <a:t> and Random</a:t>
            </a:r>
            <a:r>
              <a:rPr spc="-30" dirty="0"/>
              <a:t> Forest</a:t>
            </a:r>
            <a:r>
              <a:rPr spc="-35" dirty="0"/>
              <a:t> </a:t>
            </a:r>
            <a:r>
              <a:rPr spc="-45" dirty="0"/>
              <a:t>Regression. </a:t>
            </a:r>
            <a:r>
              <a:rPr spc="-40" dirty="0"/>
              <a:t>Integrating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40" dirty="0"/>
              <a:t>system</a:t>
            </a:r>
            <a:r>
              <a:rPr spc="-45" dirty="0"/>
              <a:t> </a:t>
            </a:r>
            <a:r>
              <a:rPr dirty="0"/>
              <a:t>into</a:t>
            </a:r>
            <a:r>
              <a:rPr spc="-45" dirty="0"/>
              <a:t> </a:t>
            </a:r>
            <a:r>
              <a:rPr spc="-40" dirty="0"/>
              <a:t>healthcare</a:t>
            </a:r>
            <a:r>
              <a:rPr spc="-45" dirty="0"/>
              <a:t> </a:t>
            </a:r>
            <a:r>
              <a:rPr spc="-35" dirty="0"/>
              <a:t>and</a:t>
            </a:r>
            <a:r>
              <a:rPr spc="-45" dirty="0"/>
              <a:t> </a:t>
            </a:r>
            <a:r>
              <a:rPr spc="-30" dirty="0"/>
              <a:t>fitness</a:t>
            </a:r>
            <a:r>
              <a:rPr spc="-45" dirty="0"/>
              <a:t> </a:t>
            </a:r>
            <a:r>
              <a:rPr spc="-10" dirty="0"/>
              <a:t>applications.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6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6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85656" y="1219200"/>
            <a:ext cx="13887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45" dirty="0">
                <a:latin typeface="Trebuchet MS"/>
                <a:cs typeface="Trebuchet MS"/>
              </a:rPr>
              <a:t>Thank</a:t>
            </a:r>
            <a:r>
              <a:rPr sz="2450" spc="-140" dirty="0">
                <a:latin typeface="Trebuchet MS"/>
                <a:cs typeface="Trebuchet MS"/>
              </a:rPr>
              <a:t> </a:t>
            </a:r>
            <a:r>
              <a:rPr sz="2450" spc="-95" dirty="0">
                <a:latin typeface="Trebuchet MS"/>
                <a:cs typeface="Trebuchet MS"/>
              </a:rPr>
              <a:t>You</a:t>
            </a:r>
            <a:endParaRPr sz="24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Nikhil</a:t>
            </a:r>
            <a:r>
              <a:rPr spc="75" dirty="0"/>
              <a:t> </a:t>
            </a:r>
            <a:r>
              <a:rPr dirty="0"/>
              <a:t>B</a:t>
            </a:r>
            <a:r>
              <a:rPr spc="75" dirty="0"/>
              <a:t> </a:t>
            </a:r>
            <a:r>
              <a:rPr spc="-20" dirty="0"/>
              <a:t>Nair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09519" y="3135783"/>
            <a:ext cx="54102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  <a:hlinkClick r:id="rId2" action="ppaction://hlinksldjump"/>
              </a:rPr>
              <a:t>BMI</a:t>
            </a:r>
            <a:r>
              <a:rPr sz="600" spc="13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Prediction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June</a:t>
            </a:r>
            <a:r>
              <a:rPr spc="5" dirty="0"/>
              <a:t> </a:t>
            </a:r>
            <a:r>
              <a:rPr dirty="0"/>
              <a:t>28,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997</Words>
  <Application>Microsoft Office PowerPoint</Application>
  <PresentationFormat>Custom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Tahoma</vt:lpstr>
      <vt:lpstr>Trebuchet MS</vt:lpstr>
      <vt:lpstr>Office Theme</vt:lpstr>
      <vt:lpstr>PowerPoint Presentation</vt:lpstr>
      <vt:lpstr>Agenda</vt:lpstr>
      <vt:lpstr>Introduction</vt:lpstr>
      <vt:lpstr>Objectives</vt:lpstr>
      <vt:lpstr>Dataset Overview</vt:lpstr>
      <vt:lpstr>Data Preprocessing</vt:lpstr>
      <vt:lpstr>Feature Engineering</vt:lpstr>
      <vt:lpstr>PowerPoint Presentation</vt:lpstr>
      <vt:lpstr>Observations</vt:lpstr>
      <vt:lpstr>Model Training</vt:lpstr>
      <vt:lpstr>Model Evaluation</vt:lpstr>
      <vt:lpstr>Results and Insights</vt:lpstr>
      <vt:lpstr>PowerPoint Presentation</vt:lpstr>
      <vt:lpstr>PowerPoint Presentation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BMI Prediction Using Machine Learning</dc:title>
  <dc:creator>Nikhil B Nair</dc:creator>
  <cp:lastModifiedBy>Nikhil B Nair</cp:lastModifiedBy>
  <cp:revision>1</cp:revision>
  <dcterms:created xsi:type="dcterms:W3CDTF">2026-06-28T11:48:59Z</dcterms:created>
  <dcterms:modified xsi:type="dcterms:W3CDTF">2026-06-28T11:52:05Z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2026-06-28T00:00:00Z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2026-06-28T00:00:00Z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